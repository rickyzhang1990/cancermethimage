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2" r:id="rId3"/>
  </p:sldMasterIdLst>
  <p:notesMasterIdLst>
    <p:notesMasterId r:id="rId6"/>
  </p:notesMasterIdLst>
  <p:sldIdLst>
    <p:sldId id="257" r:id="rId4"/>
    <p:sldId id="258" r:id="rId5"/>
    <p:sldId id="298" r:id="rId7"/>
    <p:sldId id="316" r:id="rId8"/>
    <p:sldId id="300" r:id="rId9"/>
    <p:sldId id="319" r:id="rId10"/>
    <p:sldId id="317" r:id="rId11"/>
    <p:sldId id="324" r:id="rId12"/>
    <p:sldId id="325" r:id="rId13"/>
    <p:sldId id="326" r:id="rId14"/>
    <p:sldId id="329" r:id="rId15"/>
    <p:sldId id="304" r:id="rId16"/>
    <p:sldId id="261" r:id="rId17"/>
  </p:sldIdLst>
  <p:sldSz cx="12192000" cy="6858000"/>
  <p:notesSz cx="6858000" cy="9144000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nshine" initials="S" lastIdx="1" clrIdx="0"/>
  <p:cmAuthor id="2" name="Administrator" initials="A" lastIdx="1" clrIdx="1"/>
  <p:cmAuthor id="3" name="Dhruv Roy" initials="DR" lastIdx="2" clrIdx="2"/>
  <p:cmAuthor id="4" name="xiaox" initials="x" lastIdx="1" clrIdx="3"/>
  <p:cmAuthor id="5" name="admin" initials="a" lastIdx="1" clrIdx="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CAFB4"/>
    <a:srgbClr val="D4D7DC"/>
    <a:srgbClr val="2B46B4"/>
    <a:srgbClr val="CDD0D6"/>
    <a:srgbClr val="CCCFD4"/>
    <a:srgbClr val="A5A8AD"/>
    <a:srgbClr val="FFFFFF"/>
    <a:srgbClr val="1E4EA1"/>
    <a:srgbClr val="C9D0D4"/>
    <a:srgbClr val="AFB8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110" d="100"/>
          <a:sy n="110" d="100"/>
        </p:scale>
        <p:origin x="702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2" Type="http://schemas.openxmlformats.org/officeDocument/2006/relationships/tags" Target="tags/tag30.xml"/><Relationship Id="rId21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0"/>
    </mc:Choice>
    <mc:Fallback>
      <p:transition advTm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078560" y="659422"/>
            <a:ext cx="9027088" cy="483578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defRPr sz="264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078560" y="1316037"/>
            <a:ext cx="10316674" cy="1655763"/>
          </a:xfrm>
        </p:spPr>
        <p:txBody>
          <a:bodyPr/>
          <a:lstStyle>
            <a:lvl1pPr marL="0" indent="0" algn="l">
              <a:buNone/>
              <a:defRPr sz="2110"/>
            </a:lvl1pPr>
            <a:lvl2pPr marL="402590" indent="0" algn="ctr">
              <a:buNone/>
              <a:defRPr sz="1760"/>
            </a:lvl2pPr>
            <a:lvl3pPr marL="803275" indent="0" algn="ctr">
              <a:buNone/>
              <a:defRPr sz="1580"/>
            </a:lvl3pPr>
            <a:lvl4pPr marL="1205230" indent="0" algn="ctr">
              <a:buNone/>
              <a:defRPr sz="1405"/>
            </a:lvl4pPr>
            <a:lvl5pPr marL="1607185" indent="0" algn="ctr">
              <a:buNone/>
              <a:defRPr sz="1405"/>
            </a:lvl5pPr>
            <a:lvl6pPr marL="2008505" indent="0" algn="ctr">
              <a:buNone/>
              <a:defRPr sz="1405"/>
            </a:lvl6pPr>
            <a:lvl7pPr marL="2410460" indent="0" algn="ctr">
              <a:buNone/>
              <a:defRPr sz="1405"/>
            </a:lvl7pPr>
            <a:lvl8pPr marL="2812415" indent="0" algn="ctr">
              <a:buNone/>
              <a:defRPr sz="1405"/>
            </a:lvl8pPr>
            <a:lvl9pPr marL="3213100" indent="0" algn="ctr">
              <a:buNone/>
              <a:defRPr sz="1405"/>
            </a:lvl9pPr>
          </a:lstStyle>
          <a:p>
            <a:r>
              <a:rPr lang="zh-CN" altLang="en-US" dirty="0"/>
              <a:t>单击此处添加正文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76083" y="936430"/>
            <a:ext cx="8426490" cy="63781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59" y="1834970"/>
            <a:ext cx="10516343" cy="435133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D31008-0854-4C86-B755-EB43F6F7F16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C0456D-9277-460E-9ACC-29D9F19080E8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22" y="274639"/>
            <a:ext cx="10973187" cy="49244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09622" y="6356352"/>
            <a:ext cx="2844900" cy="276999"/>
          </a:xfrm>
        </p:spPr>
        <p:txBody>
          <a:bodyPr/>
          <a:lstStyle>
            <a:lvl1pPr>
              <a:defRPr/>
            </a:lvl1pPr>
          </a:lstStyle>
          <a:p>
            <a:fld id="{EA09351E-9AD9-4739-BA07-080C55F467E6}" type="datetime1">
              <a:rPr lang="zh-CN" altLang="en-US"/>
            </a:fld>
            <a:endParaRPr lang="zh-CN" altLang="en-US" sz="131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165747" y="6356352"/>
            <a:ext cx="3860937" cy="276999"/>
          </a:xfrm>
        </p:spPr>
        <p:txBody>
          <a:bodyPr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737909" y="6356352"/>
            <a:ext cx="2844900" cy="276999"/>
          </a:xfrm>
        </p:spPr>
        <p:txBody>
          <a:bodyPr/>
          <a:lstStyle>
            <a:lvl1pPr>
              <a:defRPr/>
            </a:lvl1pPr>
          </a:lstStyle>
          <a:p>
            <a:fld id="{02E0F682-FC46-4D38-86FB-231EDE989C20}" type="slidenum">
              <a:rPr lang="zh-CN" altLang="en-US"/>
            </a:fld>
            <a:endParaRPr lang="zh-CN" altLang="en-US" sz="131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0"/>
    </mc:Choice>
    <mc:Fallback>
      <p:transition advTm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ags" Target="../tags/tag16.xml"/><Relationship Id="rId8" Type="http://schemas.openxmlformats.org/officeDocument/2006/relationships/tags" Target="../tags/tag15.xml"/><Relationship Id="rId7" Type="http://schemas.openxmlformats.org/officeDocument/2006/relationships/tags" Target="../tags/tag14.xml"/><Relationship Id="rId6" Type="http://schemas.openxmlformats.org/officeDocument/2006/relationships/tags" Target="../tags/tag13.xml"/><Relationship Id="rId5" Type="http://schemas.openxmlformats.org/officeDocument/2006/relationships/tags" Target="../tags/tag12.xml"/><Relationship Id="rId4" Type="http://schemas.openxmlformats.org/officeDocument/2006/relationships/tags" Target="../tags/tag1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0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theme" Target="../theme/theme2.xml"/><Relationship Id="rId7" Type="http://schemas.openxmlformats.org/officeDocument/2006/relationships/image" Target="../media/image2.png"/><Relationship Id="rId6" Type="http://schemas.openxmlformats.org/officeDocument/2006/relationships/image" Target="../media/image1.png"/><Relationship Id="rId5" Type="http://schemas.openxmlformats.org/officeDocument/2006/relationships/slideLayout" Target="../slideLayouts/slideLayout8.xml"/><Relationship Id="rId4" Type="http://schemas.openxmlformats.org/officeDocument/2006/relationships/slideLayout" Target="../slideLayouts/slideLayout7.xml"/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FFFFF"/>
            </a:gs>
            <a:gs pos="100000">
              <a:srgbClr val="D9D9D9"/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5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6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7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8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9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Arial" panose="020B0604020202020204" pitchFamily="34" charset="0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/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1"/>
            <a:ext cx="12191140" cy="6858806"/>
          </a:xfrm>
          <a:prstGeom prst="rect">
            <a:avLst/>
          </a:prstGeom>
        </p:spPr>
      </p:pic>
      <p:sp>
        <p:nvSpPr>
          <p:cNvPr id="24" name="矩形 23"/>
          <p:cNvSpPr/>
          <p:nvPr userDrawn="1"/>
        </p:nvSpPr>
        <p:spPr>
          <a:xfrm>
            <a:off x="-1" y="327208"/>
            <a:ext cx="374225" cy="53017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ADB9CA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4" tIns="34292" rIns="68584" bIns="34292" anchor="ctr"/>
          <a:lstStyle/>
          <a:p>
            <a:pPr algn="ctr" defTabSz="685800">
              <a:defRPr/>
            </a:pPr>
            <a:endParaRPr lang="zh-CN" altLang="en-US" sz="1400" dirty="0">
              <a:solidFill>
                <a:srgbClr val="E7E6E6">
                  <a:lumMod val="50000"/>
                </a:srgbClr>
              </a:solidFill>
              <a:cs typeface="+mn-ea"/>
              <a:sym typeface="+mn-lt"/>
            </a:endParaRPr>
          </a:p>
        </p:txBody>
      </p:sp>
      <p:pic>
        <p:nvPicPr>
          <p:cNvPr id="7" name="图片 6" descr="C:\Users\admin\Desktop\莱盟健康logo（透明底）.png莱盟健康logo（透明底）"/>
          <p:cNvPicPr>
            <a:picLocks noChangeAspect="1"/>
          </p:cNvPicPr>
          <p:nvPr userDrawn="1"/>
        </p:nvPicPr>
        <p:blipFill>
          <a:blip r:embed="rId7"/>
          <a:srcRect/>
          <a:stretch>
            <a:fillRect/>
          </a:stretch>
        </p:blipFill>
        <p:spPr>
          <a:xfrm>
            <a:off x="10694239" y="289308"/>
            <a:ext cx="1296454" cy="629759"/>
          </a:xfrm>
          <a:prstGeom prst="rect">
            <a:avLst/>
          </a:prstGeom>
        </p:spPr>
      </p:pic>
      <p:sp>
        <p:nvSpPr>
          <p:cNvPr id="10" name="页脚占位符 3"/>
          <p:cNvSpPr txBox="1"/>
          <p:nvPr userDrawn="1"/>
        </p:nvSpPr>
        <p:spPr>
          <a:xfrm>
            <a:off x="4280793" y="6439177"/>
            <a:ext cx="3161558" cy="21399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spAutoFit/>
          </a:bodyPr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80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内部资料 不得外传</a:t>
            </a:r>
            <a:r>
              <a:rPr lang="en-US" altLang="zh-CN" sz="800" baseline="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sz="800" dirty="0">
                <a:solidFill>
                  <a:schemeClr val="bg2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Private and Confidential</a:t>
            </a:r>
            <a:endParaRPr lang="en-US" altLang="zh-CN" sz="800" dirty="0">
              <a:solidFill>
                <a:schemeClr val="bg2">
                  <a:lumMod val="7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23"/>
          <p:cNvSpPr txBox="1"/>
          <p:nvPr userDrawn="1"/>
        </p:nvSpPr>
        <p:spPr>
          <a:xfrm>
            <a:off x="7431743" y="6426719"/>
            <a:ext cx="520700" cy="224155"/>
          </a:xfrm>
          <a:prstGeom prst="rect">
            <a:avLst/>
          </a:prstGeom>
          <a:noFill/>
          <a:ln w="12700" cap="flat">
            <a:noFill/>
            <a:miter lim="400000"/>
          </a:ln>
          <a:effectLst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8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Light"/>
              </a:rPr>
              <a:t>第</a:t>
            </a:r>
            <a:fld id="{D634A4C8-B294-4B10-B2C8-435C4462DAD5}" type="slidenum">
              <a:rPr kumimoji="0" lang="en-US" altLang="en-US" sz="800" b="0" i="0" u="none" strike="noStrike" cap="none" spc="0" normalizeH="0" baseline="0" dirty="0" smtClean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Light"/>
              </a:rPr>
            </a:fld>
            <a:r>
              <a:rPr kumimoji="0" lang="zh-CN" altLang="en-US" sz="800" b="0" i="0" u="none" strike="noStrike" cap="none" spc="0" normalizeH="0" baseline="0" dirty="0">
                <a:ln>
                  <a:noFill/>
                </a:ln>
                <a:solidFill>
                  <a:schemeClr val="bg2">
                    <a:lumMod val="75000"/>
                  </a:schemeClr>
                </a:solidFill>
                <a:effectLst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Helvetica Light"/>
              </a:rPr>
              <a:t>页</a:t>
            </a:r>
            <a:endParaRPr kumimoji="0" lang="zh-CN" altLang="en-US" sz="800" b="0" i="0" u="none" strike="noStrike" cap="none" spc="0" normalizeH="0" baseline="0" dirty="0">
              <a:ln>
                <a:noFill/>
              </a:ln>
              <a:solidFill>
                <a:schemeClr val="bg2">
                  <a:lumMod val="75000"/>
                </a:schemeClr>
              </a:solidFill>
              <a:effectLst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Helvetica Ligh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54" r:id="rId2"/>
    <p:sldLayoutId id="2147483655" r:id="rId3"/>
    <p:sldLayoutId id="2147483656" r:id="rId4"/>
    <p:sldLayoutId id="2147483657" r:id="rId5"/>
  </p:sldLayoutIdLst>
  <p:txStyles>
    <p:titleStyle>
      <a:lvl1pPr algn="l" defTabSz="857250" rtl="0" eaLnBrk="1" latinLnBrk="0" hangingPunct="1">
        <a:lnSpc>
          <a:spcPct val="90000"/>
        </a:lnSpc>
        <a:spcBef>
          <a:spcPct val="0"/>
        </a:spcBef>
        <a:buNone/>
        <a:defRPr sz="2995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4630" indent="-214630" algn="l" defTabSz="857250" rtl="0" eaLnBrk="1" latinLnBrk="0" hangingPunct="1">
        <a:lnSpc>
          <a:spcPct val="90000"/>
        </a:lnSpc>
        <a:spcBef>
          <a:spcPts val="940"/>
        </a:spcBef>
        <a:buFont typeface="Arial" panose="020B0604020202020204" pitchFamily="34" charset="0"/>
        <a:buChar char="•"/>
        <a:defRPr sz="2620" kern="1200">
          <a:solidFill>
            <a:schemeClr val="tx1"/>
          </a:solidFill>
          <a:latin typeface="+mn-lt"/>
          <a:ea typeface="+mn-ea"/>
          <a:cs typeface="+mn-cs"/>
        </a:defRPr>
      </a:lvl1pPr>
      <a:lvl2pPr marL="642620" indent="-214630" algn="l" defTabSz="85725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2250" kern="1200">
          <a:solidFill>
            <a:schemeClr val="tx1"/>
          </a:solidFill>
          <a:latin typeface="+mn-lt"/>
          <a:ea typeface="+mn-ea"/>
          <a:cs typeface="+mn-cs"/>
        </a:defRPr>
      </a:lvl2pPr>
      <a:lvl3pPr marL="1071880" indent="-214630" algn="l" defTabSz="85725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875" kern="1200">
          <a:solidFill>
            <a:schemeClr val="tx1"/>
          </a:solidFill>
          <a:latin typeface="+mn-lt"/>
          <a:ea typeface="+mn-ea"/>
          <a:cs typeface="+mn-cs"/>
        </a:defRPr>
      </a:lvl3pPr>
      <a:lvl4pPr marL="1499870" indent="-214630" algn="l" defTabSz="85725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indent="-214630" algn="l" defTabSz="85725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5pPr>
      <a:lvl6pPr marL="2357120" indent="-214630" algn="l" defTabSz="85725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6pPr>
      <a:lvl7pPr marL="2785745" indent="-214630" algn="l" defTabSz="85725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7pPr>
      <a:lvl8pPr marL="3214370" indent="-214630" algn="l" defTabSz="85725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8pPr>
      <a:lvl9pPr marL="3642995" indent="-214630" algn="l" defTabSz="857250" rtl="0" eaLnBrk="1" latinLnBrk="0" hangingPunct="1">
        <a:lnSpc>
          <a:spcPct val="90000"/>
        </a:lnSpc>
        <a:spcBef>
          <a:spcPts val="470"/>
        </a:spcBef>
        <a:buFont typeface="Arial" panose="020B0604020202020204" pitchFamily="34" charset="0"/>
        <a:buChar char="•"/>
        <a:defRPr sz="16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57250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1pPr>
      <a:lvl2pPr marL="429260" algn="l" defTabSz="857250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algn="l" defTabSz="857250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3pPr>
      <a:lvl4pPr marL="1285875" algn="l" defTabSz="857250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algn="l" defTabSz="857250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5pPr>
      <a:lvl6pPr marL="2143125" algn="l" defTabSz="857250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6pPr>
      <a:lvl7pPr marL="2571750" algn="l" defTabSz="857250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7pPr>
      <a:lvl8pPr marL="3000375" algn="l" defTabSz="857250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8pPr>
      <a:lvl9pPr marL="3428365" algn="l" defTabSz="857250" rtl="0" eaLnBrk="1" latinLnBrk="0" hangingPunct="1">
        <a:defRPr sz="16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7.xml"/><Relationship Id="rId1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8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5.png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3.png"/><Relationship Id="rId8" Type="http://schemas.openxmlformats.org/officeDocument/2006/relationships/image" Target="../media/image12.png"/><Relationship Id="rId7" Type="http://schemas.openxmlformats.org/officeDocument/2006/relationships/image" Target="../media/image11.png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7" Type="http://schemas.openxmlformats.org/officeDocument/2006/relationships/slideLayout" Target="../slideLayouts/slideLayout3.xml"/><Relationship Id="rId16" Type="http://schemas.openxmlformats.org/officeDocument/2006/relationships/image" Target="../media/image20.png"/><Relationship Id="rId15" Type="http://schemas.openxmlformats.org/officeDocument/2006/relationships/image" Target="../media/image19.png"/><Relationship Id="rId14" Type="http://schemas.openxmlformats.org/officeDocument/2006/relationships/image" Target="../media/image18.png"/><Relationship Id="rId13" Type="http://schemas.openxmlformats.org/officeDocument/2006/relationships/image" Target="../media/image17.png"/><Relationship Id="rId12" Type="http://schemas.openxmlformats.org/officeDocument/2006/relationships/image" Target="../media/image16.png"/><Relationship Id="rId11" Type="http://schemas.openxmlformats.org/officeDocument/2006/relationships/image" Target="../media/image15.png"/><Relationship Id="rId10" Type="http://schemas.openxmlformats.org/officeDocument/2006/relationships/image" Target="../media/image14.png"/><Relationship Id="rId1" Type="http://schemas.openxmlformats.org/officeDocument/2006/relationships/tags" Target="../tags/tag22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image" Target="../media/image21.png"/><Relationship Id="rId1" Type="http://schemas.openxmlformats.org/officeDocument/2006/relationships/tags" Target="../tags/tag2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9.png"/><Relationship Id="rId8" Type="http://schemas.openxmlformats.org/officeDocument/2006/relationships/image" Target="../media/image28.png"/><Relationship Id="rId7" Type="http://schemas.openxmlformats.org/officeDocument/2006/relationships/image" Target="../media/image27.png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3.xml"/><Relationship Id="rId15" Type="http://schemas.openxmlformats.org/officeDocument/2006/relationships/image" Target="../media/image35.png"/><Relationship Id="rId14" Type="http://schemas.openxmlformats.org/officeDocument/2006/relationships/image" Target="../media/image34.png"/><Relationship Id="rId13" Type="http://schemas.openxmlformats.org/officeDocument/2006/relationships/image" Target="../media/image33.png"/><Relationship Id="rId12" Type="http://schemas.openxmlformats.org/officeDocument/2006/relationships/image" Target="../media/image32.png"/><Relationship Id="rId11" Type="http://schemas.openxmlformats.org/officeDocument/2006/relationships/image" Target="../media/image31.png"/><Relationship Id="rId10" Type="http://schemas.openxmlformats.org/officeDocument/2006/relationships/image" Target="../media/image30.png"/><Relationship Id="rId1" Type="http://schemas.openxmlformats.org/officeDocument/2006/relationships/tags" Target="../tags/tag2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tags" Target="../tags/tag28.xml"/><Relationship Id="rId17" Type="http://schemas.openxmlformats.org/officeDocument/2006/relationships/slideLayout" Target="../slideLayouts/slideLayout3.xml"/><Relationship Id="rId16" Type="http://schemas.openxmlformats.org/officeDocument/2006/relationships/image" Target="../media/image49.png"/><Relationship Id="rId15" Type="http://schemas.openxmlformats.org/officeDocument/2006/relationships/image" Target="../media/image48.png"/><Relationship Id="rId14" Type="http://schemas.openxmlformats.org/officeDocument/2006/relationships/image" Target="../media/image47.png"/><Relationship Id="rId13" Type="http://schemas.openxmlformats.org/officeDocument/2006/relationships/image" Target="../media/image46.png"/><Relationship Id="rId12" Type="http://schemas.openxmlformats.org/officeDocument/2006/relationships/image" Target="../media/image45.png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tags" Target="../tags/tag2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29.xml"/><Relationship Id="rId1" Type="http://schemas.openxmlformats.org/officeDocument/2006/relationships/image" Target="../media/image5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首页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口号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19555" y="81280"/>
            <a:ext cx="884999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606550" y="299720"/>
            <a:ext cx="9470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3200"/>
              <a:t>目的</a:t>
            </a:r>
            <a:endParaRPr lang="zh-CN" altLang="en-US" sz="3200"/>
          </a:p>
        </p:txBody>
      </p:sp>
      <p:sp>
        <p:nvSpPr>
          <p:cNvPr id="4" name="文本框 3"/>
          <p:cNvSpPr txBox="1"/>
          <p:nvPr/>
        </p:nvSpPr>
        <p:spPr>
          <a:xfrm>
            <a:off x="1327785" y="1283335"/>
            <a:ext cx="987933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使用深度学习图像处理的算法对甲基化的结果进行处理，测试该算法在肿瘤早筛的任务的性能，</a:t>
            </a:r>
            <a:r>
              <a:rPr lang="en-US" altLang="zh-CN"/>
              <a:t>j</a:t>
            </a:r>
            <a:r>
              <a:rPr lang="zh-CN" altLang="en-US"/>
              <a:t>将甲基化的数据转化为图像的数据，使用图像识别的方法对癌症数据的甲基化数据进行分类。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0"/>
    </mc:Choice>
    <mc:Fallback>
      <p:transition advTm="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405255" y="299720"/>
            <a:ext cx="9470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/>
              <a:t>methylation pattern transformation</a:t>
            </a:r>
            <a:endParaRPr lang="en-US" altLang="zh-CN" sz="3200"/>
          </a:p>
        </p:txBody>
      </p:sp>
      <p:cxnSp>
        <p:nvCxnSpPr>
          <p:cNvPr id="2" name="直接连接符 1"/>
          <p:cNvCxnSpPr/>
          <p:nvPr/>
        </p:nvCxnSpPr>
        <p:spPr>
          <a:xfrm flipV="1">
            <a:off x="1751330" y="1953260"/>
            <a:ext cx="5020945" cy="711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3"/>
          <p:cNvCxnSpPr/>
          <p:nvPr/>
        </p:nvCxnSpPr>
        <p:spPr>
          <a:xfrm>
            <a:off x="2136775" y="1831340"/>
            <a:ext cx="0" cy="2736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/>
          <p:cNvCxnSpPr/>
          <p:nvPr/>
        </p:nvCxnSpPr>
        <p:spPr>
          <a:xfrm>
            <a:off x="2491740" y="1844040"/>
            <a:ext cx="0" cy="263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/>
          <p:cNvCxnSpPr/>
          <p:nvPr/>
        </p:nvCxnSpPr>
        <p:spPr>
          <a:xfrm>
            <a:off x="3820795" y="1834515"/>
            <a:ext cx="0" cy="263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5149850" y="1834515"/>
            <a:ext cx="0" cy="263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3566795" y="1844040"/>
            <a:ext cx="0" cy="263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3155950" y="1844040"/>
            <a:ext cx="0" cy="263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/>
          <p:cNvCxnSpPr/>
          <p:nvPr/>
        </p:nvCxnSpPr>
        <p:spPr>
          <a:xfrm>
            <a:off x="4485005" y="1853565"/>
            <a:ext cx="0" cy="263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/>
          <p:nvPr/>
        </p:nvCxnSpPr>
        <p:spPr>
          <a:xfrm>
            <a:off x="4231640" y="1834515"/>
            <a:ext cx="0" cy="263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/>
          <p:nvPr/>
        </p:nvCxnSpPr>
        <p:spPr>
          <a:xfrm>
            <a:off x="5560060" y="1834515"/>
            <a:ext cx="0" cy="263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/>
        </p:nvCxnSpPr>
        <p:spPr>
          <a:xfrm>
            <a:off x="5717540" y="1831340"/>
            <a:ext cx="0" cy="2635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1915795" y="1649095"/>
            <a:ext cx="537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CG</a:t>
            </a:r>
            <a:endParaRPr lang="en-US" altLang="zh-CN" sz="1200"/>
          </a:p>
        </p:txBody>
      </p:sp>
      <p:sp>
        <p:nvSpPr>
          <p:cNvPr id="19" name="文本框 18"/>
          <p:cNvSpPr txBox="1"/>
          <p:nvPr/>
        </p:nvSpPr>
        <p:spPr>
          <a:xfrm>
            <a:off x="2223135" y="1649095"/>
            <a:ext cx="537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CG</a:t>
            </a:r>
            <a:endParaRPr lang="en-US" altLang="zh-CN" sz="1200"/>
          </a:p>
        </p:txBody>
      </p:sp>
      <p:sp>
        <p:nvSpPr>
          <p:cNvPr id="20" name="文本框 19"/>
          <p:cNvSpPr txBox="1"/>
          <p:nvPr/>
        </p:nvSpPr>
        <p:spPr>
          <a:xfrm>
            <a:off x="3630930" y="1649095"/>
            <a:ext cx="537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CG</a:t>
            </a:r>
            <a:endParaRPr lang="en-US" altLang="zh-CN" sz="1200"/>
          </a:p>
        </p:txBody>
      </p:sp>
      <p:sp>
        <p:nvSpPr>
          <p:cNvPr id="21" name="文本框 20"/>
          <p:cNvSpPr txBox="1"/>
          <p:nvPr/>
        </p:nvSpPr>
        <p:spPr>
          <a:xfrm>
            <a:off x="2936875" y="1649095"/>
            <a:ext cx="537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CG</a:t>
            </a:r>
            <a:endParaRPr lang="en-US" altLang="zh-CN" sz="1200"/>
          </a:p>
        </p:txBody>
      </p:sp>
      <p:sp>
        <p:nvSpPr>
          <p:cNvPr id="22" name="文本框 21"/>
          <p:cNvSpPr txBox="1"/>
          <p:nvPr/>
        </p:nvSpPr>
        <p:spPr>
          <a:xfrm>
            <a:off x="3336925" y="1649095"/>
            <a:ext cx="537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CG</a:t>
            </a:r>
            <a:endParaRPr lang="en-US" altLang="zh-CN" sz="1200"/>
          </a:p>
        </p:txBody>
      </p:sp>
      <p:sp>
        <p:nvSpPr>
          <p:cNvPr id="23" name="文本框 22"/>
          <p:cNvSpPr txBox="1"/>
          <p:nvPr/>
        </p:nvSpPr>
        <p:spPr>
          <a:xfrm>
            <a:off x="4015105" y="1649095"/>
            <a:ext cx="537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CG</a:t>
            </a:r>
            <a:endParaRPr lang="en-US" altLang="zh-CN" sz="1200"/>
          </a:p>
        </p:txBody>
      </p:sp>
      <p:sp>
        <p:nvSpPr>
          <p:cNvPr id="24" name="文本框 23"/>
          <p:cNvSpPr txBox="1"/>
          <p:nvPr/>
        </p:nvSpPr>
        <p:spPr>
          <a:xfrm>
            <a:off x="4283710" y="1649095"/>
            <a:ext cx="537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CG</a:t>
            </a:r>
            <a:endParaRPr lang="en-US" altLang="zh-CN" sz="1200"/>
          </a:p>
        </p:txBody>
      </p:sp>
      <p:sp>
        <p:nvSpPr>
          <p:cNvPr id="25" name="文本框 24"/>
          <p:cNvSpPr txBox="1"/>
          <p:nvPr/>
        </p:nvSpPr>
        <p:spPr>
          <a:xfrm>
            <a:off x="4953000" y="1639570"/>
            <a:ext cx="537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CG</a:t>
            </a:r>
            <a:endParaRPr lang="en-US" altLang="zh-CN" sz="1200"/>
          </a:p>
        </p:txBody>
      </p:sp>
      <p:sp>
        <p:nvSpPr>
          <p:cNvPr id="26" name="文本框 25"/>
          <p:cNvSpPr txBox="1"/>
          <p:nvPr/>
        </p:nvSpPr>
        <p:spPr>
          <a:xfrm>
            <a:off x="5346065" y="1639570"/>
            <a:ext cx="537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CG</a:t>
            </a:r>
            <a:endParaRPr lang="en-US" altLang="zh-CN" sz="1200"/>
          </a:p>
        </p:txBody>
      </p:sp>
      <p:sp>
        <p:nvSpPr>
          <p:cNvPr id="27" name="文本框 26"/>
          <p:cNvSpPr txBox="1"/>
          <p:nvPr/>
        </p:nvSpPr>
        <p:spPr>
          <a:xfrm>
            <a:off x="5574665" y="1639570"/>
            <a:ext cx="53721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CG</a:t>
            </a:r>
            <a:endParaRPr lang="en-US" altLang="zh-CN" sz="1200"/>
          </a:p>
        </p:txBody>
      </p:sp>
      <p:sp>
        <p:nvSpPr>
          <p:cNvPr id="28" name="文本框 27"/>
          <p:cNvSpPr txBox="1"/>
          <p:nvPr/>
        </p:nvSpPr>
        <p:spPr>
          <a:xfrm>
            <a:off x="1760855" y="2186305"/>
            <a:ext cx="484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C   C       C     C T    T  T        T     N N </a:t>
            </a:r>
            <a:endParaRPr lang="en-US" altLang="zh-CN"/>
          </a:p>
        </p:txBody>
      </p:sp>
      <p:sp>
        <p:nvSpPr>
          <p:cNvPr id="29" name="文本框 28"/>
          <p:cNvSpPr txBox="1"/>
          <p:nvPr/>
        </p:nvSpPr>
        <p:spPr>
          <a:xfrm>
            <a:off x="1760855" y="2480945"/>
            <a:ext cx="484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N   C       C     C C    C T        T     N N </a:t>
            </a:r>
            <a:endParaRPr lang="en-US" altLang="zh-CN"/>
          </a:p>
        </p:txBody>
      </p:sp>
      <p:sp>
        <p:nvSpPr>
          <p:cNvPr id="30" name="文本框 29"/>
          <p:cNvSpPr txBox="1"/>
          <p:nvPr/>
        </p:nvSpPr>
        <p:spPr>
          <a:xfrm>
            <a:off x="1760855" y="2740025"/>
            <a:ext cx="484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N   N       C     C C    C C        T    C N </a:t>
            </a:r>
            <a:endParaRPr lang="en-US" altLang="zh-CN"/>
          </a:p>
        </p:txBody>
      </p:sp>
      <p:sp>
        <p:nvSpPr>
          <p:cNvPr id="31" name="文本框 30"/>
          <p:cNvSpPr txBox="1"/>
          <p:nvPr/>
        </p:nvSpPr>
        <p:spPr>
          <a:xfrm>
            <a:off x="1760855" y="2999105"/>
            <a:ext cx="484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N   N       C     C C    C T        T     N N </a:t>
            </a:r>
            <a:endParaRPr lang="en-US" altLang="zh-CN"/>
          </a:p>
        </p:txBody>
      </p:sp>
      <p:sp>
        <p:nvSpPr>
          <p:cNvPr id="32" name="文本框 31"/>
          <p:cNvSpPr txBox="1"/>
          <p:nvPr/>
        </p:nvSpPr>
        <p:spPr>
          <a:xfrm>
            <a:off x="1760855" y="3274695"/>
            <a:ext cx="484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N   N       C     C C    C T        T     C N </a:t>
            </a:r>
            <a:endParaRPr lang="en-US" altLang="zh-CN"/>
          </a:p>
        </p:txBody>
      </p:sp>
      <p:sp>
        <p:nvSpPr>
          <p:cNvPr id="33" name="文本框 32"/>
          <p:cNvSpPr txBox="1"/>
          <p:nvPr/>
        </p:nvSpPr>
        <p:spPr>
          <a:xfrm>
            <a:off x="1760855" y="3517265"/>
            <a:ext cx="484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N   N       C     C C    C C       C     C N </a:t>
            </a:r>
            <a:endParaRPr lang="en-US" altLang="zh-CN"/>
          </a:p>
        </p:txBody>
      </p:sp>
      <p:sp>
        <p:nvSpPr>
          <p:cNvPr id="34" name="文本框 33"/>
          <p:cNvSpPr txBox="1"/>
          <p:nvPr/>
        </p:nvSpPr>
        <p:spPr>
          <a:xfrm>
            <a:off x="1760855" y="3773805"/>
            <a:ext cx="484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N   C       C     C C    C T        T     C N </a:t>
            </a:r>
            <a:endParaRPr lang="en-US" altLang="zh-CN"/>
          </a:p>
        </p:txBody>
      </p:sp>
      <p:sp>
        <p:nvSpPr>
          <p:cNvPr id="35" name="文本框 34"/>
          <p:cNvSpPr txBox="1"/>
          <p:nvPr/>
        </p:nvSpPr>
        <p:spPr>
          <a:xfrm>
            <a:off x="1760855" y="4016375"/>
            <a:ext cx="484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N   N       C     C C    C C       C     C N </a:t>
            </a:r>
            <a:endParaRPr lang="en-US" altLang="zh-CN"/>
          </a:p>
        </p:txBody>
      </p:sp>
      <p:sp>
        <p:nvSpPr>
          <p:cNvPr id="36" name="文本框 35"/>
          <p:cNvSpPr txBox="1"/>
          <p:nvPr/>
        </p:nvSpPr>
        <p:spPr>
          <a:xfrm>
            <a:off x="1760855" y="4277360"/>
            <a:ext cx="484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N   C       C     C C    C T        T     C N </a:t>
            </a:r>
            <a:endParaRPr lang="en-US" altLang="zh-CN"/>
          </a:p>
        </p:txBody>
      </p:sp>
      <p:sp>
        <p:nvSpPr>
          <p:cNvPr id="37" name="文本框 36"/>
          <p:cNvSpPr txBox="1"/>
          <p:nvPr/>
        </p:nvSpPr>
        <p:spPr>
          <a:xfrm>
            <a:off x="1760855" y="4544060"/>
            <a:ext cx="484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N   C       C     C C    C C       C     C N </a:t>
            </a:r>
            <a:endParaRPr lang="en-US" altLang="zh-CN"/>
          </a:p>
        </p:txBody>
      </p:sp>
      <p:sp>
        <p:nvSpPr>
          <p:cNvPr id="38" name="文本框 37"/>
          <p:cNvSpPr txBox="1"/>
          <p:nvPr/>
        </p:nvSpPr>
        <p:spPr>
          <a:xfrm>
            <a:off x="1760855" y="4803775"/>
            <a:ext cx="484822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   N   C       C     C C    C T        T     N N </a:t>
            </a:r>
            <a:endParaRPr lang="en-US" altLang="zh-CN"/>
          </a:p>
        </p:txBody>
      </p:sp>
      <p:sp>
        <p:nvSpPr>
          <p:cNvPr id="39" name="文本框 38"/>
          <p:cNvSpPr txBox="1"/>
          <p:nvPr/>
        </p:nvSpPr>
        <p:spPr>
          <a:xfrm>
            <a:off x="1104900" y="2185670"/>
            <a:ext cx="979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read1</a:t>
            </a:r>
            <a:endParaRPr lang="en-US" altLang="zh-CN"/>
          </a:p>
        </p:txBody>
      </p:sp>
      <p:sp>
        <p:nvSpPr>
          <p:cNvPr id="40" name="文本框 39"/>
          <p:cNvSpPr txBox="1"/>
          <p:nvPr/>
        </p:nvSpPr>
        <p:spPr>
          <a:xfrm>
            <a:off x="1123950" y="2466340"/>
            <a:ext cx="979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read2</a:t>
            </a:r>
            <a:endParaRPr lang="en-US" altLang="zh-CN"/>
          </a:p>
        </p:txBody>
      </p:sp>
      <p:sp>
        <p:nvSpPr>
          <p:cNvPr id="41" name="文本框 40"/>
          <p:cNvSpPr txBox="1"/>
          <p:nvPr/>
        </p:nvSpPr>
        <p:spPr>
          <a:xfrm>
            <a:off x="1123950" y="2730500"/>
            <a:ext cx="979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read3</a:t>
            </a:r>
            <a:endParaRPr lang="en-US" altLang="zh-CN"/>
          </a:p>
        </p:txBody>
      </p:sp>
      <p:sp>
        <p:nvSpPr>
          <p:cNvPr id="42" name="文本框 41"/>
          <p:cNvSpPr txBox="1"/>
          <p:nvPr/>
        </p:nvSpPr>
        <p:spPr>
          <a:xfrm>
            <a:off x="1123950" y="2994025"/>
            <a:ext cx="979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read4</a:t>
            </a:r>
            <a:endParaRPr lang="en-US" altLang="zh-CN"/>
          </a:p>
        </p:txBody>
      </p:sp>
      <p:sp>
        <p:nvSpPr>
          <p:cNvPr id="43" name="文本框 42"/>
          <p:cNvSpPr txBox="1"/>
          <p:nvPr/>
        </p:nvSpPr>
        <p:spPr>
          <a:xfrm>
            <a:off x="1144270" y="3267075"/>
            <a:ext cx="979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read5</a:t>
            </a:r>
            <a:endParaRPr lang="en-US" altLang="zh-CN"/>
          </a:p>
        </p:txBody>
      </p:sp>
      <p:sp>
        <p:nvSpPr>
          <p:cNvPr id="44" name="文本框 43"/>
          <p:cNvSpPr txBox="1"/>
          <p:nvPr/>
        </p:nvSpPr>
        <p:spPr>
          <a:xfrm>
            <a:off x="1144270" y="3519805"/>
            <a:ext cx="979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read6</a:t>
            </a:r>
            <a:endParaRPr lang="en-US" altLang="zh-CN"/>
          </a:p>
        </p:txBody>
      </p:sp>
      <p:sp>
        <p:nvSpPr>
          <p:cNvPr id="45" name="文本框 44"/>
          <p:cNvSpPr txBox="1"/>
          <p:nvPr/>
        </p:nvSpPr>
        <p:spPr>
          <a:xfrm>
            <a:off x="1144270" y="3783330"/>
            <a:ext cx="97980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read7</a:t>
            </a:r>
            <a:endParaRPr lang="en-US" altLang="zh-CN"/>
          </a:p>
        </p:txBody>
      </p:sp>
      <p:sp>
        <p:nvSpPr>
          <p:cNvPr id="46" name="文本框 45"/>
          <p:cNvSpPr txBox="1"/>
          <p:nvPr/>
        </p:nvSpPr>
        <p:spPr>
          <a:xfrm>
            <a:off x="1375410" y="4173855"/>
            <a:ext cx="459740" cy="8216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/>
              <a:t>............</a:t>
            </a:r>
            <a:endParaRPr lang="en-US" altLang="zh-CN"/>
          </a:p>
        </p:txBody>
      </p:sp>
      <p:sp>
        <p:nvSpPr>
          <p:cNvPr id="47" name="文本框 46"/>
          <p:cNvSpPr txBox="1"/>
          <p:nvPr/>
        </p:nvSpPr>
        <p:spPr>
          <a:xfrm>
            <a:off x="3656965" y="5172075"/>
            <a:ext cx="459740" cy="82169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/>
              <a:t>............</a:t>
            </a:r>
            <a:endParaRPr lang="en-US" altLang="zh-CN"/>
          </a:p>
        </p:txBody>
      </p:sp>
      <p:pic>
        <p:nvPicPr>
          <p:cNvPr id="49" name="图片 48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014335" y="1749425"/>
            <a:ext cx="1918335" cy="3422650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1277620" y="5838825"/>
            <a:ext cx="1005141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如上图所示，我们可以将一个</a:t>
            </a:r>
            <a:r>
              <a:rPr lang="en-US" altLang="zh-CN"/>
              <a:t>region</a:t>
            </a:r>
            <a:r>
              <a:rPr lang="zh-CN" altLang="en-US"/>
              <a:t>对应的比对上的</a:t>
            </a:r>
            <a:r>
              <a:rPr lang="en-US" altLang="zh-CN"/>
              <a:t>reads</a:t>
            </a:r>
            <a:r>
              <a:rPr lang="zh-CN" altLang="en-US"/>
              <a:t>的</a:t>
            </a:r>
            <a:r>
              <a:rPr lang="en-US" altLang="zh-CN"/>
              <a:t>methylation pattern,</a:t>
            </a:r>
            <a:r>
              <a:rPr lang="zh-CN" altLang="en-US"/>
              <a:t>将多个</a:t>
            </a:r>
            <a:r>
              <a:rPr lang="en-US" altLang="zh-CN"/>
              <a:t>reads</a:t>
            </a:r>
            <a:r>
              <a:rPr lang="zh-CN" altLang="en-US"/>
              <a:t>的</a:t>
            </a:r>
            <a:r>
              <a:rPr lang="en-US" altLang="zh-CN"/>
              <a:t>pattern</a:t>
            </a:r>
            <a:r>
              <a:rPr lang="zh-CN" altLang="en-US"/>
              <a:t>进行堆叠，可以形成包含</a:t>
            </a:r>
            <a:r>
              <a:rPr lang="en-US" altLang="zh-CN"/>
              <a:t>n(reads</a:t>
            </a:r>
            <a:r>
              <a:rPr lang="zh-CN" altLang="en-US"/>
              <a:t>数目）</a:t>
            </a:r>
            <a:r>
              <a:rPr lang="en-US" altLang="zh-CN"/>
              <a:t>*m</a:t>
            </a:r>
            <a:r>
              <a:rPr lang="zh-CN" altLang="en-US"/>
              <a:t>（</a:t>
            </a:r>
            <a:r>
              <a:rPr lang="en-US" altLang="zh-CN"/>
              <a:t>cg</a:t>
            </a:r>
            <a:r>
              <a:rPr lang="zh-CN" altLang="en-US"/>
              <a:t>位点数目）的矩阵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0"/>
    </mc:Choice>
    <mc:Fallback>
      <p:transition advTm="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405255" y="299720"/>
            <a:ext cx="9470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/>
              <a:t>methylation pattern transformation</a:t>
            </a:r>
            <a:endParaRPr lang="en-US" altLang="zh-CN" sz="3200"/>
          </a:p>
        </p:txBody>
      </p:sp>
      <p:sp>
        <p:nvSpPr>
          <p:cNvPr id="6" name="文本框 5"/>
          <p:cNvSpPr txBox="1"/>
          <p:nvPr/>
        </p:nvSpPr>
        <p:spPr>
          <a:xfrm>
            <a:off x="1033780" y="1283335"/>
            <a:ext cx="1047813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/>
              <a:t>根据每个矩阵内的</a:t>
            </a:r>
            <a:r>
              <a:rPr lang="en-US" altLang="zh-CN"/>
              <a:t>C/T/N</a:t>
            </a:r>
            <a:r>
              <a:rPr lang="zh-CN" altLang="en-US"/>
              <a:t>的数据，对</a:t>
            </a:r>
            <a:r>
              <a:rPr lang="en-US" altLang="zh-CN"/>
              <a:t>C/T/N</a:t>
            </a:r>
            <a:r>
              <a:rPr lang="zh-CN" altLang="en-US"/>
              <a:t>进行转化，将</a:t>
            </a:r>
            <a:r>
              <a:rPr lang="en-US" altLang="zh-CN"/>
              <a:t>{C:1</a:t>
            </a:r>
            <a:r>
              <a:rPr lang="zh-CN" altLang="en-US"/>
              <a:t>，</a:t>
            </a:r>
            <a:r>
              <a:rPr lang="en-US" altLang="zh-CN"/>
              <a:t>T:-1</a:t>
            </a:r>
            <a:r>
              <a:rPr lang="zh-CN" altLang="en-US"/>
              <a:t>，</a:t>
            </a:r>
            <a:r>
              <a:rPr lang="en-US" altLang="zh-CN"/>
              <a:t>N:0}</a:t>
            </a:r>
            <a:r>
              <a:rPr lang="zh-CN" altLang="en-US"/>
              <a:t>进行转化，为了防止在滑窗计算平均池化是出现（</a:t>
            </a:r>
            <a:r>
              <a:rPr lang="en-US" altLang="zh-CN"/>
              <a:t>0,0,0</a:t>
            </a:r>
            <a:r>
              <a:rPr lang="zh-CN" altLang="en-US"/>
              <a:t>）与（</a:t>
            </a:r>
            <a:r>
              <a:rPr lang="en-US" altLang="zh-CN"/>
              <a:t>-1,0,1</a:t>
            </a:r>
            <a:r>
              <a:rPr lang="zh-CN" altLang="en-US"/>
              <a:t>）均值相同的情况，对</a:t>
            </a:r>
            <a:r>
              <a:rPr lang="en-US" altLang="zh-CN">
                <a:sym typeface="+mn-ea"/>
              </a:rPr>
              <a:t>{C:1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T:-1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N:0}</a:t>
            </a:r>
            <a:r>
              <a:rPr lang="zh-CN" altLang="en-US">
                <a:sym typeface="+mn-ea"/>
              </a:rPr>
              <a:t>进行改变，转化对应关系变为一下</a:t>
            </a:r>
            <a:r>
              <a:rPr lang="en-US" altLang="zh-CN">
                <a:sym typeface="+mn-ea"/>
              </a:rPr>
              <a:t>{C:1*2</a:t>
            </a:r>
            <a:r>
              <a:rPr lang="en-US" altLang="zh-CN" baseline="30000">
                <a:sym typeface="+mn-ea"/>
              </a:rPr>
              <a:t>1</a:t>
            </a:r>
            <a:r>
              <a:rPr lang="en-US" altLang="zh-CN">
                <a:sym typeface="+mn-ea"/>
              </a:rPr>
              <a:t>,T:-1*2</a:t>
            </a:r>
            <a:r>
              <a:rPr lang="en-US" altLang="zh-CN" baseline="30000">
                <a:sym typeface="+mn-ea"/>
              </a:rPr>
              <a:t>-1</a:t>
            </a:r>
            <a:r>
              <a:rPr lang="en-US" altLang="zh-CN">
                <a:sym typeface="+mn-ea"/>
              </a:rPr>
              <a:t>,N:0*2</a:t>
            </a:r>
            <a:r>
              <a:rPr lang="en-US" altLang="zh-CN" baseline="30000">
                <a:sym typeface="+mn-ea"/>
              </a:rPr>
              <a:t>0</a:t>
            </a:r>
            <a:r>
              <a:rPr lang="en-US" altLang="zh-CN">
                <a:sym typeface="+mn-ea"/>
              </a:rPr>
              <a:t>}</a:t>
            </a:r>
            <a:r>
              <a:rPr lang="zh-CN" altLang="en-US">
                <a:sym typeface="+mn-ea"/>
              </a:rPr>
              <a:t>即</a:t>
            </a:r>
            <a:r>
              <a:rPr lang="en-US" altLang="zh-CN">
                <a:sym typeface="+mn-ea"/>
              </a:rPr>
              <a:t>{C:2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T:-0.5</a:t>
            </a:r>
            <a:r>
              <a:rPr lang="zh-CN" altLang="en-US">
                <a:sym typeface="+mn-ea"/>
              </a:rPr>
              <a:t>，</a:t>
            </a:r>
            <a:r>
              <a:rPr lang="en-US" altLang="zh-CN">
                <a:sym typeface="+mn-ea"/>
              </a:rPr>
              <a:t>N:0}</a:t>
            </a:r>
            <a:r>
              <a:rPr lang="zh-CN" altLang="en-US">
                <a:sym typeface="+mn-ea"/>
              </a:rPr>
              <a:t>。</a:t>
            </a:r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按照每个</a:t>
            </a:r>
            <a:r>
              <a:rPr lang="en-US" altLang="zh-CN">
                <a:sym typeface="+mn-ea"/>
              </a:rPr>
              <a:t>region</a:t>
            </a:r>
            <a:r>
              <a:rPr lang="zh-CN" altLang="en-US">
                <a:sym typeface="+mn-ea"/>
              </a:rPr>
              <a:t>对应一个图层，将每个</a:t>
            </a:r>
            <a:r>
              <a:rPr lang="en-US" altLang="zh-CN">
                <a:sym typeface="+mn-ea"/>
              </a:rPr>
              <a:t>region</a:t>
            </a:r>
            <a:r>
              <a:rPr lang="zh-CN" altLang="en-US">
                <a:sym typeface="+mn-ea"/>
              </a:rPr>
              <a:t>作图单通道的图片输入到神经网络中，计算单个</a:t>
            </a:r>
            <a:r>
              <a:rPr lang="en-US" altLang="zh-CN">
                <a:sym typeface="+mn-ea"/>
              </a:rPr>
              <a:t>region</a:t>
            </a:r>
            <a:r>
              <a:rPr lang="zh-CN" altLang="en-US">
                <a:sym typeface="+mn-ea"/>
              </a:rPr>
              <a:t>的</a:t>
            </a:r>
            <a:r>
              <a:rPr lang="en-US" altLang="zh-CN">
                <a:sym typeface="+mn-ea"/>
              </a:rPr>
              <a:t>auc</a:t>
            </a:r>
            <a:r>
              <a:rPr lang="zh-CN" altLang="en-US">
                <a:sym typeface="+mn-ea"/>
              </a:rPr>
              <a:t>结果。</a:t>
            </a:r>
            <a:endParaRPr lang="zh-CN" altLang="en-US">
              <a:sym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0"/>
    </mc:Choice>
    <mc:Fallback>
      <p:transition advTm="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900805" y="1668780"/>
            <a:ext cx="297815" cy="2552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conv1</a:t>
            </a:r>
            <a:endParaRPr lang="en-US" altLang="zh-CN"/>
          </a:p>
        </p:txBody>
      </p:sp>
      <p:sp>
        <p:nvSpPr>
          <p:cNvPr id="9" name="右箭头 8"/>
          <p:cNvSpPr/>
          <p:nvPr/>
        </p:nvSpPr>
        <p:spPr>
          <a:xfrm>
            <a:off x="4246245" y="2812415"/>
            <a:ext cx="794385" cy="203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092700" y="1668780"/>
            <a:ext cx="297815" cy="25520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conv2</a:t>
            </a:r>
            <a:endParaRPr lang="en-US" altLang="zh-CN"/>
          </a:p>
        </p:txBody>
      </p:sp>
      <p:sp>
        <p:nvSpPr>
          <p:cNvPr id="11" name="右箭头 10"/>
          <p:cNvSpPr/>
          <p:nvPr/>
        </p:nvSpPr>
        <p:spPr>
          <a:xfrm>
            <a:off x="5438140" y="2812415"/>
            <a:ext cx="602615" cy="203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右箭头 12"/>
          <p:cNvSpPr/>
          <p:nvPr/>
        </p:nvSpPr>
        <p:spPr>
          <a:xfrm>
            <a:off x="3323590" y="2812415"/>
            <a:ext cx="442595" cy="203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圆角矩形 13"/>
          <p:cNvSpPr/>
          <p:nvPr/>
        </p:nvSpPr>
        <p:spPr>
          <a:xfrm>
            <a:off x="2141855" y="2269490"/>
            <a:ext cx="1054100" cy="112268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Input</a:t>
            </a:r>
            <a:endParaRPr lang="en-US" altLang="zh-CN"/>
          </a:p>
        </p:txBody>
      </p:sp>
      <p:sp>
        <p:nvSpPr>
          <p:cNvPr id="21" name="文本框 20"/>
          <p:cNvSpPr txBox="1"/>
          <p:nvPr/>
        </p:nvSpPr>
        <p:spPr>
          <a:xfrm>
            <a:off x="4198620" y="2560955"/>
            <a:ext cx="3319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BN+relu</a:t>
            </a:r>
            <a:endParaRPr lang="en-US" altLang="zh-CN" sz="1400"/>
          </a:p>
        </p:txBody>
      </p:sp>
      <p:sp>
        <p:nvSpPr>
          <p:cNvPr id="22" name="文本框 21"/>
          <p:cNvSpPr txBox="1"/>
          <p:nvPr/>
        </p:nvSpPr>
        <p:spPr>
          <a:xfrm>
            <a:off x="5320665" y="2560955"/>
            <a:ext cx="331914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BN+relu</a:t>
            </a:r>
            <a:endParaRPr lang="en-US" altLang="zh-CN" sz="1400"/>
          </a:p>
        </p:txBody>
      </p:sp>
      <p:sp>
        <p:nvSpPr>
          <p:cNvPr id="23" name="文本框 22"/>
          <p:cNvSpPr txBox="1"/>
          <p:nvPr/>
        </p:nvSpPr>
        <p:spPr>
          <a:xfrm>
            <a:off x="4006850" y="1123315"/>
            <a:ext cx="19316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shortcut</a:t>
            </a:r>
            <a:endParaRPr lang="en-US" altLang="zh-CN"/>
          </a:p>
        </p:txBody>
      </p:sp>
      <p:sp>
        <p:nvSpPr>
          <p:cNvPr id="24" name="右箭头 23"/>
          <p:cNvSpPr/>
          <p:nvPr/>
        </p:nvSpPr>
        <p:spPr>
          <a:xfrm>
            <a:off x="6438265" y="2812415"/>
            <a:ext cx="602615" cy="203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6506210" y="2560955"/>
            <a:ext cx="53594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/>
              <a:t>relu</a:t>
            </a:r>
            <a:endParaRPr lang="en-US" altLang="zh-CN" sz="1400"/>
          </a:p>
        </p:txBody>
      </p:sp>
      <p:sp>
        <p:nvSpPr>
          <p:cNvPr id="26" name="矩形 25"/>
          <p:cNvSpPr/>
          <p:nvPr/>
        </p:nvSpPr>
        <p:spPr>
          <a:xfrm>
            <a:off x="6090920" y="2132330"/>
            <a:ext cx="290830" cy="1365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out</a:t>
            </a:r>
            <a:endParaRPr lang="en-US" altLang="zh-CN"/>
          </a:p>
        </p:txBody>
      </p:sp>
      <p:cxnSp>
        <p:nvCxnSpPr>
          <p:cNvPr id="27" name="肘形连接符 26"/>
          <p:cNvCxnSpPr>
            <a:stCxn id="14" idx="0"/>
            <a:endCxn id="26" idx="0"/>
          </p:cNvCxnSpPr>
          <p:nvPr/>
        </p:nvCxnSpPr>
        <p:spPr>
          <a:xfrm rot="16200000">
            <a:off x="4384040" y="417195"/>
            <a:ext cx="137160" cy="3567430"/>
          </a:xfrm>
          <a:prstGeom prst="bentConnector3">
            <a:avLst>
              <a:gd name="adj1" fmla="val 539814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7097395" y="2132330"/>
            <a:ext cx="281940" cy="13658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GAP</a:t>
            </a:r>
            <a:endParaRPr lang="en-US" altLang="zh-CN"/>
          </a:p>
        </p:txBody>
      </p:sp>
      <p:sp>
        <p:nvSpPr>
          <p:cNvPr id="29" name="右箭头 28"/>
          <p:cNvSpPr/>
          <p:nvPr/>
        </p:nvSpPr>
        <p:spPr>
          <a:xfrm>
            <a:off x="7396480" y="2812415"/>
            <a:ext cx="602615" cy="203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矩形 29"/>
          <p:cNvSpPr/>
          <p:nvPr/>
        </p:nvSpPr>
        <p:spPr>
          <a:xfrm>
            <a:off x="8053705" y="1392555"/>
            <a:ext cx="137160" cy="304228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/>
              <a:t>FC</a:t>
            </a:r>
            <a:endParaRPr lang="en-US" altLang="zh-CN"/>
          </a:p>
        </p:txBody>
      </p:sp>
      <p:sp>
        <p:nvSpPr>
          <p:cNvPr id="31" name="右箭头 30"/>
          <p:cNvSpPr/>
          <p:nvPr/>
        </p:nvSpPr>
        <p:spPr>
          <a:xfrm>
            <a:off x="8195310" y="2812415"/>
            <a:ext cx="602615" cy="203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/>
          <p:cNvSpPr txBox="1"/>
          <p:nvPr/>
        </p:nvSpPr>
        <p:spPr>
          <a:xfrm>
            <a:off x="8115935" y="2588895"/>
            <a:ext cx="11804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/>
              <a:t>softmax</a:t>
            </a:r>
            <a:endParaRPr lang="en-US" altLang="zh-CN" sz="1200"/>
          </a:p>
        </p:txBody>
      </p:sp>
      <p:sp>
        <p:nvSpPr>
          <p:cNvPr id="33" name="文本框 32"/>
          <p:cNvSpPr txBox="1"/>
          <p:nvPr/>
        </p:nvSpPr>
        <p:spPr>
          <a:xfrm>
            <a:off x="8749665" y="2705735"/>
            <a:ext cx="10115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[0.8,0.2]</a:t>
            </a:r>
            <a:endParaRPr lang="en-US" altLang="zh-CN"/>
          </a:p>
        </p:txBody>
      </p:sp>
      <p:sp>
        <p:nvSpPr>
          <p:cNvPr id="34" name="文本框 33"/>
          <p:cNvSpPr txBox="1"/>
          <p:nvPr>
            <p:custDataLst>
              <p:tags r:id="rId1"/>
            </p:custDataLst>
          </p:nvPr>
        </p:nvSpPr>
        <p:spPr>
          <a:xfrm>
            <a:off x="1405255" y="299720"/>
            <a:ext cx="94703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/>
              <a:t>CNN network</a:t>
            </a:r>
            <a:endParaRPr lang="en-US" altLang="zh-CN" sz="32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0"/>
    </mc:Choice>
    <mc:Fallback>
      <p:transition advTm="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806065" y="176530"/>
            <a:ext cx="6958965" cy="59563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lvl="0" algn="ctr">
              <a:buClrTx/>
              <a:buSzTx/>
              <a:buFontTx/>
            </a:pPr>
            <a:r>
              <a:rPr lang="en-US" altLang="zh-CN" sz="3200">
                <a:sym typeface="+mn-ea"/>
              </a:rPr>
              <a:t>result  for single channel </a:t>
            </a:r>
            <a:endParaRPr lang="en-US" altLang="zh-CN" sz="32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83210" y="664210"/>
            <a:ext cx="2425065" cy="483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methylome figure</a:t>
            </a:r>
            <a:endParaRPr lang="en-US" altLang="zh-CN"/>
          </a:p>
        </p:txBody>
      </p:sp>
      <p:pic>
        <p:nvPicPr>
          <p:cNvPr id="3" name="图片 2" descr="chr1_21814220_21814520_taini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39520" y="1163320"/>
            <a:ext cx="2160000" cy="1620000"/>
          </a:xfrm>
          <a:prstGeom prst="rect">
            <a:avLst/>
          </a:prstGeom>
        </p:spPr>
      </p:pic>
      <p:pic>
        <p:nvPicPr>
          <p:cNvPr id="5" name="图片 4" descr="chr1_161305794_161306211_tai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7390" y="1163320"/>
            <a:ext cx="2159651" cy="1620000"/>
          </a:xfrm>
          <a:prstGeom prst="rect">
            <a:avLst/>
          </a:prstGeom>
        </p:spPr>
      </p:pic>
      <p:pic>
        <p:nvPicPr>
          <p:cNvPr id="6" name="图片 5" descr="chr2_25216071_25216461_tain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1920" y="1163320"/>
            <a:ext cx="2160000" cy="1620000"/>
          </a:xfrm>
          <a:prstGeom prst="rect">
            <a:avLst/>
          </a:prstGeom>
        </p:spPr>
      </p:pic>
      <p:pic>
        <p:nvPicPr>
          <p:cNvPr id="8" name="图片 7" descr="chr2_113276990_113277290_tain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17330" y="1144270"/>
            <a:ext cx="2160000" cy="1620000"/>
          </a:xfrm>
          <a:prstGeom prst="rect">
            <a:avLst/>
          </a:prstGeom>
        </p:spPr>
      </p:pic>
      <p:pic>
        <p:nvPicPr>
          <p:cNvPr id="9" name="图片 8" descr="chr5_42992406_42992826_tain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39520" y="2835275"/>
            <a:ext cx="2160000" cy="1620000"/>
          </a:xfrm>
          <a:prstGeom prst="rect">
            <a:avLst/>
          </a:prstGeom>
        </p:spPr>
      </p:pic>
      <p:pic>
        <p:nvPicPr>
          <p:cNvPr id="10" name="图片 9" descr="chr6_26250229_26250649_tain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46755" y="2835275"/>
            <a:ext cx="2160000" cy="1620000"/>
          </a:xfrm>
          <a:prstGeom prst="rect">
            <a:avLst/>
          </a:prstGeom>
        </p:spPr>
      </p:pic>
      <p:pic>
        <p:nvPicPr>
          <p:cNvPr id="11" name="图片 10" descr="chr6_26251739_26252113_tain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208905" y="2839720"/>
            <a:ext cx="2160000" cy="1620000"/>
          </a:xfrm>
          <a:prstGeom prst="rect">
            <a:avLst/>
          </a:prstGeom>
        </p:spPr>
      </p:pic>
      <p:pic>
        <p:nvPicPr>
          <p:cNvPr id="12" name="图片 11" descr="chr6_108171022_108171322_tain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117330" y="2825750"/>
            <a:ext cx="2160000" cy="1620000"/>
          </a:xfrm>
          <a:prstGeom prst="rect">
            <a:avLst/>
          </a:prstGeom>
        </p:spPr>
      </p:pic>
      <p:pic>
        <p:nvPicPr>
          <p:cNvPr id="13" name="图片 12" descr="chr8_66961669_66962089_taini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239520" y="4507230"/>
            <a:ext cx="2160000" cy="1620000"/>
          </a:xfrm>
          <a:prstGeom prst="rect">
            <a:avLst/>
          </a:prstGeom>
        </p:spPr>
      </p:pic>
      <p:pic>
        <p:nvPicPr>
          <p:cNvPr id="14" name="图片 13" descr="chr8_101492153_101492453_taini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92145" y="4497070"/>
            <a:ext cx="2160000" cy="1620000"/>
          </a:xfrm>
          <a:prstGeom prst="rect">
            <a:avLst/>
          </a:prstGeom>
        </p:spPr>
      </p:pic>
      <p:pic>
        <p:nvPicPr>
          <p:cNvPr id="15" name="图片 14" descr="chr13_27927842_27928142_taini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157470" y="4498975"/>
            <a:ext cx="2160000" cy="1620000"/>
          </a:xfrm>
          <a:prstGeom prst="rect">
            <a:avLst/>
          </a:prstGeom>
        </p:spPr>
      </p:pic>
      <p:pic>
        <p:nvPicPr>
          <p:cNvPr id="16" name="图片 15" descr="chr14_53955882_53956302_taini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13905" y="4486910"/>
            <a:ext cx="2160000" cy="1620000"/>
          </a:xfrm>
          <a:prstGeom prst="rect">
            <a:avLst/>
          </a:prstGeom>
        </p:spPr>
      </p:pic>
      <p:pic>
        <p:nvPicPr>
          <p:cNvPr id="17" name="图片 16" descr="chr17_30970996_30971386_taini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117330" y="4488180"/>
            <a:ext cx="2160000" cy="1620000"/>
          </a:xfrm>
          <a:prstGeom prst="rect">
            <a:avLst/>
          </a:prstGeom>
        </p:spPr>
      </p:pic>
      <p:pic>
        <p:nvPicPr>
          <p:cNvPr id="19" name="图片 18" descr="chr2_63053924_63054224_taini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161530" y="1142365"/>
            <a:ext cx="2160000" cy="1620000"/>
          </a:xfrm>
          <a:prstGeom prst="rect">
            <a:avLst/>
          </a:prstGeom>
        </p:spPr>
      </p:pic>
      <p:pic>
        <p:nvPicPr>
          <p:cNvPr id="21" name="图片 20" descr="chr6_26271041_26271431_taini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161530" y="2816225"/>
            <a:ext cx="2160000" cy="16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0"/>
    </mc:Choice>
    <mc:Fallback>
      <p:transition advTm="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8" name="图片 17" descr="chr19_50050824_50051124_tainin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3534410" y="1468120"/>
            <a:ext cx="3985260" cy="2988310"/>
          </a:xfrm>
          <a:prstGeom prst="rect">
            <a:avLst/>
          </a:prstGeom>
        </p:spPr>
      </p:pic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2806065" y="176530"/>
            <a:ext cx="6958965" cy="595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3200">
                <a:sym typeface="+mn-ea"/>
              </a:rPr>
              <a:t>result  for single channel </a:t>
            </a:r>
            <a:endParaRPr lang="en-US" altLang="zh-CN" sz="3200"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283210" y="664210"/>
            <a:ext cx="2425065" cy="4832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methylome figure</a:t>
            </a:r>
            <a:endParaRPr lang="en-US" altLang="zh-CN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0"/>
    </mc:Choice>
    <mc:Fallback>
      <p:transition advTm="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806065" y="176530"/>
            <a:ext cx="6958965" cy="595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3200">
                <a:sym typeface="+mn-ea"/>
              </a:rPr>
              <a:t>result  for single channel </a:t>
            </a:r>
            <a:endParaRPr lang="en-US" altLang="zh-CN" sz="3200"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56895" y="867410"/>
            <a:ext cx="4493260" cy="605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480K pannel</a:t>
            </a:r>
            <a:r>
              <a:rPr lang="zh-CN" altLang="en-US"/>
              <a:t>：</a:t>
            </a:r>
            <a:r>
              <a:rPr lang="en-US" altLang="zh-CN"/>
              <a:t>train_size 64  test_size 32</a:t>
            </a:r>
            <a:endParaRPr lang="en-US" altLang="zh-CN"/>
          </a:p>
        </p:txBody>
      </p:sp>
      <p:pic>
        <p:nvPicPr>
          <p:cNvPr id="3" name="图片 2" descr="chr1_21814220_21814520_taini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0125" y="1310005"/>
            <a:ext cx="2160000" cy="1620000"/>
          </a:xfrm>
          <a:prstGeom prst="rect">
            <a:avLst/>
          </a:prstGeom>
        </p:spPr>
      </p:pic>
      <p:pic>
        <p:nvPicPr>
          <p:cNvPr id="5" name="图片 4" descr="chr1_161305794_161306211_tai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395" y="1278255"/>
            <a:ext cx="2160000" cy="1620000"/>
          </a:xfrm>
          <a:prstGeom prst="rect">
            <a:avLst/>
          </a:prstGeom>
        </p:spPr>
      </p:pic>
      <p:pic>
        <p:nvPicPr>
          <p:cNvPr id="6" name="图片 5" descr="chr2_25216071_25216461_tain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0975" y="1314450"/>
            <a:ext cx="2160000" cy="1620000"/>
          </a:xfrm>
          <a:prstGeom prst="rect">
            <a:avLst/>
          </a:prstGeom>
        </p:spPr>
      </p:pic>
      <p:pic>
        <p:nvPicPr>
          <p:cNvPr id="7" name="图片 6" descr="chr2_63053924_63054224_tain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2330" y="1297305"/>
            <a:ext cx="2160000" cy="1620000"/>
          </a:xfrm>
          <a:prstGeom prst="rect">
            <a:avLst/>
          </a:prstGeom>
        </p:spPr>
      </p:pic>
      <p:pic>
        <p:nvPicPr>
          <p:cNvPr id="8" name="图片 7" descr="chr5_42992406_42992826_tain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600" y="1297305"/>
            <a:ext cx="2160000" cy="1620000"/>
          </a:xfrm>
          <a:prstGeom prst="rect">
            <a:avLst/>
          </a:prstGeom>
        </p:spPr>
      </p:pic>
      <p:pic>
        <p:nvPicPr>
          <p:cNvPr id="9" name="图片 8" descr="chr6_26250229_26250649_tain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0125" y="2933065"/>
            <a:ext cx="2160000" cy="1620000"/>
          </a:xfrm>
          <a:prstGeom prst="rect">
            <a:avLst/>
          </a:prstGeom>
        </p:spPr>
      </p:pic>
      <p:pic>
        <p:nvPicPr>
          <p:cNvPr id="10" name="图片 9" descr="chr6_26251739_26252113_tain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81985" y="2917190"/>
            <a:ext cx="2160000" cy="1620000"/>
          </a:xfrm>
          <a:prstGeom prst="rect">
            <a:avLst/>
          </a:prstGeom>
        </p:spPr>
      </p:pic>
      <p:pic>
        <p:nvPicPr>
          <p:cNvPr id="11" name="图片 10" descr="chr6_26271041_26271431_tain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243195" y="2915285"/>
            <a:ext cx="2160000" cy="1620000"/>
          </a:xfrm>
          <a:prstGeom prst="rect">
            <a:avLst/>
          </a:prstGeom>
        </p:spPr>
      </p:pic>
      <p:pic>
        <p:nvPicPr>
          <p:cNvPr id="12" name="图片 11" descr="chr6_108171022_108171322_taini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93610" y="2936240"/>
            <a:ext cx="2160000" cy="1620000"/>
          </a:xfrm>
          <a:prstGeom prst="rect">
            <a:avLst/>
          </a:prstGeom>
        </p:spPr>
      </p:pic>
      <p:pic>
        <p:nvPicPr>
          <p:cNvPr id="13" name="图片 12" descr="chr8_66961669_66962089_taini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60865" y="2898140"/>
            <a:ext cx="2160000" cy="1620000"/>
          </a:xfrm>
          <a:prstGeom prst="rect">
            <a:avLst/>
          </a:prstGeom>
        </p:spPr>
      </p:pic>
      <p:pic>
        <p:nvPicPr>
          <p:cNvPr id="14" name="图片 13" descr="chr8_101492153_101492453_taini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125" y="4556125"/>
            <a:ext cx="2160000" cy="1620000"/>
          </a:xfrm>
          <a:prstGeom prst="rect">
            <a:avLst/>
          </a:prstGeom>
        </p:spPr>
      </p:pic>
      <p:pic>
        <p:nvPicPr>
          <p:cNvPr id="15" name="图片 14" descr="chr14_53955882_53956302_taini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177540" y="4587875"/>
            <a:ext cx="2160000" cy="1620000"/>
          </a:xfrm>
          <a:prstGeom prst="rect">
            <a:avLst/>
          </a:prstGeom>
        </p:spPr>
      </p:pic>
      <p:pic>
        <p:nvPicPr>
          <p:cNvPr id="16" name="图片 15" descr="chr17_30970996_30971386_taini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227955" y="4546600"/>
            <a:ext cx="2160000" cy="1620000"/>
          </a:xfrm>
          <a:prstGeom prst="rect">
            <a:avLst/>
          </a:prstGeom>
        </p:spPr>
      </p:pic>
      <p:pic>
        <p:nvPicPr>
          <p:cNvPr id="17" name="图片 16" descr="chr19_50050824_50051124_taini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93610" y="4575175"/>
            <a:ext cx="2160000" cy="16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0"/>
    </mc:Choice>
    <mc:Fallback>
      <p:transition advTm="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11760" y="596900"/>
            <a:ext cx="4493260" cy="6051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480K pannel</a:t>
            </a:r>
            <a:r>
              <a:rPr lang="zh-CN" altLang="en-US"/>
              <a:t>：</a:t>
            </a:r>
            <a:r>
              <a:rPr lang="en-US" altLang="zh-CN"/>
              <a:t>train_size 150  test_size 50</a:t>
            </a:r>
            <a:endParaRPr lang="en-US" altLang="zh-CN"/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2806065" y="176530"/>
            <a:ext cx="6958965" cy="5956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lvl="0" algn="ctr">
              <a:buClrTx/>
              <a:buSzTx/>
              <a:buFontTx/>
            </a:pPr>
            <a:r>
              <a:rPr lang="en-US" altLang="zh-CN" sz="3200">
                <a:sym typeface="+mn-ea"/>
              </a:rPr>
              <a:t>result  for single channel </a:t>
            </a:r>
            <a:endParaRPr lang="en-US" altLang="zh-CN" sz="3200">
              <a:sym typeface="+mn-ea"/>
            </a:endParaRPr>
          </a:p>
        </p:txBody>
      </p:sp>
      <p:pic>
        <p:nvPicPr>
          <p:cNvPr id="3" name="图片 2" descr="chr1_21814220_21814520_traini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080" y="1202055"/>
            <a:ext cx="2160000" cy="1620000"/>
          </a:xfrm>
          <a:prstGeom prst="rect">
            <a:avLst/>
          </a:prstGeom>
        </p:spPr>
      </p:pic>
      <p:pic>
        <p:nvPicPr>
          <p:cNvPr id="5" name="图片 4" descr="chr1_161305794_161306211_traini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3350" y="1202055"/>
            <a:ext cx="2160000" cy="1620000"/>
          </a:xfrm>
          <a:prstGeom prst="rect">
            <a:avLst/>
          </a:prstGeom>
        </p:spPr>
      </p:pic>
      <p:pic>
        <p:nvPicPr>
          <p:cNvPr id="6" name="图片 5" descr="chr2_25216071_25216461_traini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33620" y="1202055"/>
            <a:ext cx="2160000" cy="1620000"/>
          </a:xfrm>
          <a:prstGeom prst="rect">
            <a:avLst/>
          </a:prstGeom>
        </p:spPr>
      </p:pic>
      <p:pic>
        <p:nvPicPr>
          <p:cNvPr id="7" name="图片 6" descr="chr2_63053924_63054224_traini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3890" y="1057275"/>
            <a:ext cx="2160000" cy="1620000"/>
          </a:xfrm>
          <a:prstGeom prst="rect">
            <a:avLst/>
          </a:prstGeom>
        </p:spPr>
      </p:pic>
      <p:pic>
        <p:nvPicPr>
          <p:cNvPr id="8" name="图片 7" descr="chr5_42992406_42992826_traini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54160" y="1057275"/>
            <a:ext cx="2160000" cy="1620000"/>
          </a:xfrm>
          <a:prstGeom prst="rect">
            <a:avLst/>
          </a:prstGeom>
        </p:spPr>
      </p:pic>
      <p:pic>
        <p:nvPicPr>
          <p:cNvPr id="9" name="图片 8" descr="chr6_26250229_26250649_traini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3080" y="2677160"/>
            <a:ext cx="2160000" cy="1620000"/>
          </a:xfrm>
          <a:prstGeom prst="rect">
            <a:avLst/>
          </a:prstGeom>
        </p:spPr>
      </p:pic>
      <p:pic>
        <p:nvPicPr>
          <p:cNvPr id="10" name="图片 9" descr="chr6_26251739_26252113_traini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73350" y="2677160"/>
            <a:ext cx="2160000" cy="1620000"/>
          </a:xfrm>
          <a:prstGeom prst="rect">
            <a:avLst/>
          </a:prstGeom>
        </p:spPr>
      </p:pic>
      <p:pic>
        <p:nvPicPr>
          <p:cNvPr id="11" name="图片 10" descr="chr6_26271041_26271431_traini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33620" y="2677160"/>
            <a:ext cx="2160000" cy="1620000"/>
          </a:xfrm>
          <a:prstGeom prst="rect">
            <a:avLst/>
          </a:prstGeom>
        </p:spPr>
      </p:pic>
      <p:pic>
        <p:nvPicPr>
          <p:cNvPr id="12" name="图片 11" descr="chr6_108171022_108171322_traini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993890" y="2677160"/>
            <a:ext cx="2160000" cy="1620000"/>
          </a:xfrm>
          <a:prstGeom prst="rect">
            <a:avLst/>
          </a:prstGeom>
        </p:spPr>
      </p:pic>
      <p:pic>
        <p:nvPicPr>
          <p:cNvPr id="13" name="图片 12" descr="chr8_66961669_66962089_traini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54160" y="2677160"/>
            <a:ext cx="2160000" cy="1620000"/>
          </a:xfrm>
          <a:prstGeom prst="rect">
            <a:avLst/>
          </a:prstGeom>
        </p:spPr>
      </p:pic>
      <p:pic>
        <p:nvPicPr>
          <p:cNvPr id="14" name="图片 13" descr="chr8_101492153_101492453_traini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13080" y="4297045"/>
            <a:ext cx="2160000" cy="1620000"/>
          </a:xfrm>
          <a:prstGeom prst="rect">
            <a:avLst/>
          </a:prstGeom>
        </p:spPr>
      </p:pic>
      <p:pic>
        <p:nvPicPr>
          <p:cNvPr id="15" name="图片 14" descr="chr14_53955882_53956302_traini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673350" y="4297045"/>
            <a:ext cx="2160000" cy="1620000"/>
          </a:xfrm>
          <a:prstGeom prst="rect">
            <a:avLst/>
          </a:prstGeom>
        </p:spPr>
      </p:pic>
      <p:pic>
        <p:nvPicPr>
          <p:cNvPr id="16" name="图片 15" descr="chr17_30970996_30971386_traini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833620" y="4297045"/>
            <a:ext cx="2160000" cy="1620000"/>
          </a:xfrm>
          <a:prstGeom prst="rect">
            <a:avLst/>
          </a:prstGeom>
        </p:spPr>
      </p:pic>
      <p:pic>
        <p:nvPicPr>
          <p:cNvPr id="17" name="图片 16" descr="chr19_50050824_50051124_traini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993890" y="4297045"/>
            <a:ext cx="2160000" cy="1620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0"/>
    </mc:Choice>
    <mc:Fallback>
      <p:transition advTm="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800225" y="114935"/>
            <a:ext cx="874522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3200"/>
              <a:t>Compare with MBS</a:t>
            </a:r>
            <a:endParaRPr lang="en-US" altLang="zh-CN" sz="3200"/>
          </a:p>
        </p:txBody>
      </p:sp>
      <p:pic>
        <p:nvPicPr>
          <p:cNvPr id="100" name="图片 99"/>
          <p:cNvPicPr/>
          <p:nvPr/>
        </p:nvPicPr>
        <p:blipFill>
          <a:blip r:embed="rId1"/>
          <a:stretch>
            <a:fillRect/>
          </a:stretch>
        </p:blipFill>
        <p:spPr>
          <a:xfrm>
            <a:off x="3263265" y="831850"/>
            <a:ext cx="6025515" cy="5194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0"/>
    </mc:Choice>
    <mc:Fallback>
      <p:transition advTm="0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1581785" y="381000"/>
            <a:ext cx="933132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/>
              <a:t>Summary</a:t>
            </a:r>
            <a:endParaRPr lang="en-US" altLang="zh-CN" sz="3200"/>
          </a:p>
        </p:txBody>
      </p:sp>
      <p:sp>
        <p:nvSpPr>
          <p:cNvPr id="4" name="文本框 3"/>
          <p:cNvSpPr txBox="1"/>
          <p:nvPr/>
        </p:nvSpPr>
        <p:spPr>
          <a:xfrm>
            <a:off x="1388745" y="1363980"/>
            <a:ext cx="98386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indent="0">
              <a:buFont typeface="Arial" panose="020B0604020202020204" pitchFamily="34" charset="0"/>
              <a:buNone/>
            </a:pPr>
            <a:r>
              <a:rPr lang="zh-CN" altLang="en-US"/>
              <a:t>下一步测试：一个样本多通道的算法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 advTm="0"/>
    </mc:Choice>
    <mc:Fallback>
      <p:transition advTm="0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C:\Users\admin\Desktop\页尾.png页尾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176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176"/>
  <p:tag name="KSO_WM_TEMPLATE_MASTER_TYPE" val="0"/>
  <p:tag name="KSO_WM_TEMPLATE_COLOR_TYPE" val="1"/>
  <p:tag name="KSO_WM_UNIT_SHOW_EDIT_AREA_INDICATION" val="1"/>
</p:tagLst>
</file>

<file path=ppt/tags/tag1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UNIT_PLACING_PICTURE_USER_VIEWPORT" val="{&quot;height&quot;:2551.181102362205,&quot;width&quot;:3401.5748031496064}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30.xml><?xml version="1.0" encoding="utf-8"?>
<p:tagLst xmlns:p="http://schemas.openxmlformats.org/presentationml/2006/main">
  <p:tag name="COMMONDATA" val="eyJoZGlkIjoiMjhiYjcyMzk5YThiNDJmMWZmN2M5ODdjYTZlY2RmZGEifQ=="/>
  <p:tag name="KSO_WPP_MARK_KEY" val="23c1b263-1d42-4cd6-b91a-b96b7bc6c29e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4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1425</Words>
  <Application>WPS 演示</Application>
  <PresentationFormat>宽屏</PresentationFormat>
  <Paragraphs>121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Wingdings</vt:lpstr>
      <vt:lpstr>Helvetica Light</vt:lpstr>
      <vt:lpstr>Arial Unicode MS</vt:lpstr>
      <vt:lpstr>Calibri</vt:lpstr>
      <vt:lpstr>黑体</vt:lpstr>
      <vt:lpstr>Office 主题​​</vt:lpstr>
      <vt:lpstr>4_自定义设计方案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xinrui.dou</cp:lastModifiedBy>
  <cp:revision>293</cp:revision>
  <dcterms:created xsi:type="dcterms:W3CDTF">2019-06-19T02:08:00Z</dcterms:created>
  <dcterms:modified xsi:type="dcterms:W3CDTF">2023-09-22T05:27:50Z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2052-12.1.0.15374</vt:lpwstr>
  </property>
  <property fmtid="{D5CDD505-2E9C-101B-9397-08002B2CF9AE}" pid="3" name="ICV">
    <vt:lpwstr>AE9BD69A3D7F4E5EB0C67913BE31B862</vt:lpwstr>
  </property>
</Properties>
</file>